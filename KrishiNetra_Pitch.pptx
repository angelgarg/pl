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kn_assets/bg_titl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/tmp/kn_assets/ill_farmer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943600" y="182880"/>
            <a:ext cx="2926080" cy="329184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731520" y="-731520"/>
            <a:ext cx="3200400" cy="3200400"/>
          </a:xfrm>
          <a:prstGeom prst="ellipse">
            <a:avLst/>
          </a:prstGeom>
          <a:solidFill>
            <a:srgbClr val="4CAF50">
              <a:alpha val="25000"/>
            </a:srgbClr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5" name="Shape 1"/>
          <p:cNvSpPr/>
          <p:nvPr/>
        </p:nvSpPr>
        <p:spPr>
          <a:xfrm>
            <a:off x="7772400" y="3200400"/>
            <a:ext cx="2286000" cy="2286000"/>
          </a:xfrm>
          <a:prstGeom prst="ellipse">
            <a:avLst/>
          </a:prstGeom>
          <a:solidFill>
            <a:srgbClr val="FF8F00">
              <a:alpha val="20000"/>
            </a:srgbClr>
          </a:solidFill>
          <a:ln w="12700">
            <a:solidFill>
              <a:srgbClr val="FF8F00"/>
            </a:solidFill>
            <a:prstDash val="solid"/>
          </a:ln>
        </p:spPr>
      </p:sp>
      <p:sp>
        <p:nvSpPr>
          <p:cNvPr id="6" name="Shape 2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</p:sp>
      <p:sp>
        <p:nvSpPr>
          <p:cNvPr id="7" name="Shape 3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FF8F00"/>
          </a:solidFill>
          <a:ln w="12700">
            <a:solidFill>
              <a:srgbClr val="FF8F00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457200" y="502920"/>
            <a:ext cx="5486400" cy="1371600"/>
          </a:xfrm>
          <a:prstGeom prst="rect">
            <a:avLst/>
          </a:prstGeom>
          <a:noFill/>
          <a:ln/>
          <a:effectLst>
            <a:outerShdw sx="100000" sy="100000" kx="0" ky="0" algn="bl" rotWithShape="0" blurRad="177800" dist="50800" dir="8100000">
              <a:srgbClr val="000000">
                <a:alpha val="50000"/>
              </a:srgbClr>
            </a:outerShdw>
          </a:effectLst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कृषि नेत्र</a:t>
            </a:r>
            <a:endParaRPr lang="en-US" sz="7600" dirty="0"/>
          </a:p>
        </p:txBody>
      </p:sp>
      <p:sp>
        <p:nvSpPr>
          <p:cNvPr id="9" name="Text 5"/>
          <p:cNvSpPr/>
          <p:nvPr/>
        </p:nvSpPr>
        <p:spPr>
          <a:xfrm>
            <a:off x="457200" y="1810512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spc="1000" kern="0" dirty="0">
                <a:solidFill>
                  <a:srgbClr val="FFC10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KrishiNetra</a:t>
            </a:r>
            <a:endParaRPr lang="en-US" sz="2800" dirty="0"/>
          </a:p>
        </p:txBody>
      </p:sp>
      <p:sp>
        <p:nvSpPr>
          <p:cNvPr id="10" name="Shape 6"/>
          <p:cNvSpPr/>
          <p:nvPr/>
        </p:nvSpPr>
        <p:spPr>
          <a:xfrm>
            <a:off x="457200" y="2423160"/>
            <a:ext cx="5212080" cy="685800"/>
          </a:xfrm>
          <a:prstGeom prst="rect">
            <a:avLst/>
          </a:prstGeom>
          <a:solidFill>
            <a:srgbClr val="000000">
              <a:alpha val="50000"/>
            </a:srgbClr>
          </a:solidFill>
          <a:ln w="25400">
            <a:solidFill>
              <a:srgbClr val="FFC107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457200" y="2423160"/>
            <a:ext cx="5212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आपकी फसल की आँख 👁</a:t>
            </a:r>
            <a:endParaRPr lang="en-US" sz="2600" dirty="0"/>
          </a:p>
        </p:txBody>
      </p:sp>
      <p:sp>
        <p:nvSpPr>
          <p:cNvPr id="12" name="Text 8"/>
          <p:cNvSpPr/>
          <p:nvPr/>
        </p:nvSpPr>
        <p:spPr>
          <a:xfrm>
            <a:off x="457200" y="3200400"/>
            <a:ext cx="5212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CCF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 Eye Watching Your Crop — 24x7"</a:t>
            </a:r>
            <a:endParaRPr lang="en-US" sz="1600" dirty="0"/>
          </a:p>
        </p:txBody>
      </p:sp>
      <p:sp>
        <p:nvSpPr>
          <p:cNvPr id="13" name="Shape 9"/>
          <p:cNvSpPr/>
          <p:nvPr/>
        </p:nvSpPr>
        <p:spPr>
          <a:xfrm>
            <a:off x="347472" y="3749040"/>
            <a:ext cx="1234440" cy="384048"/>
          </a:xfrm>
          <a:prstGeom prst="rect">
            <a:avLst/>
          </a:prstGeom>
          <a:solidFill>
            <a:srgbClr val="1B5E20">
              <a:alpha val="70000"/>
            </a:srgbClr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347472" y="3749040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🌱 IoT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1673352" y="3749040"/>
            <a:ext cx="1234440" cy="384048"/>
          </a:xfrm>
          <a:prstGeom prst="rect">
            <a:avLst/>
          </a:prstGeom>
          <a:solidFill>
            <a:srgbClr val="1B5E20">
              <a:alpha val="70000"/>
            </a:srgbClr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1673352" y="3749040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🤖 AI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2999232" y="3749040"/>
            <a:ext cx="1234440" cy="384048"/>
          </a:xfrm>
          <a:prstGeom prst="rect">
            <a:avLst/>
          </a:prstGeom>
          <a:solidFill>
            <a:srgbClr val="1B5E20">
              <a:alpha val="70000"/>
            </a:srgbClr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2999232" y="3749040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☀️ Solar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4325112" y="3749040"/>
            <a:ext cx="1234440" cy="384048"/>
          </a:xfrm>
          <a:prstGeom prst="rect">
            <a:avLst/>
          </a:prstGeom>
          <a:solidFill>
            <a:srgbClr val="1B5E20">
              <a:alpha val="70000"/>
            </a:srgbClr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4325112" y="3749040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🇮🇳 Made in India</a:t>
            </a:r>
            <a:endParaRPr lang="en-US" sz="1200" dirty="0"/>
          </a:p>
        </p:txBody>
      </p:sp>
      <p:sp>
        <p:nvSpPr>
          <p:cNvPr id="21" name="Text 17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कृषि नेत्र  •  KrishiNetra  •  आपकी फसल की रक्षा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kn_assets/bg_problem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65760" y="13716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C1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किसान की 3 बड़ी परेशानियाँ</a:t>
            </a:r>
            <a:endParaRPr lang="en-US" sz="3600" dirty="0"/>
          </a:p>
        </p:txBody>
      </p:sp>
      <p:sp>
        <p:nvSpPr>
          <p:cNvPr id="4" name="Text 1"/>
          <p:cNvSpPr/>
          <p:nvPr/>
        </p:nvSpPr>
        <p:spPr>
          <a:xfrm>
            <a:off x="365760" y="749808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9AACBF"/>
                </a:solidFill>
              </a:rPr>
              <a:t>3 Big Problems Every Indian Farmer Faces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274320" y="1143000"/>
            <a:ext cx="2743200" cy="3749040"/>
          </a:xfrm>
          <a:prstGeom prst="rect">
            <a:avLst/>
          </a:prstGeom>
          <a:solidFill>
            <a:srgbClr val="3B0000"/>
          </a:solidFill>
          <a:ln w="25400">
            <a:solidFill>
              <a:srgbClr val="B71C1C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30000"/>
              </a:srgbClr>
            </a:outerShdw>
          </a:effectLst>
        </p:spPr>
      </p:sp>
      <p:pic>
        <p:nvPicPr>
          <p:cNvPr id="6" name="Image 1" descr="/tmp/kn_assets/ill_animal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347472" y="1216152"/>
            <a:ext cx="2596896" cy="192024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1353312" y="1005840"/>
            <a:ext cx="566928" cy="566928"/>
          </a:xfrm>
          <a:prstGeom prst="ellipse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1353312" y="10058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1</a:t>
            </a:r>
            <a:endParaRPr lang="en-US" sz="2400" dirty="0"/>
          </a:p>
        </p:txBody>
      </p:sp>
      <p:sp>
        <p:nvSpPr>
          <p:cNvPr id="9" name="Text 5"/>
          <p:cNvSpPr/>
          <p:nvPr/>
        </p:nvSpPr>
        <p:spPr>
          <a:xfrm>
            <a:off x="365760" y="3182112"/>
            <a:ext cx="2560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जानवर फसल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बर्बाद करते हैं</a:t>
            </a:r>
            <a:endParaRPr lang="en-US" sz="1800" dirty="0"/>
          </a:p>
        </p:txBody>
      </p:sp>
      <p:sp>
        <p:nvSpPr>
          <p:cNvPr id="10" name="Text 6"/>
          <p:cNvSpPr/>
          <p:nvPr/>
        </p:nvSpPr>
        <p:spPr>
          <a:xfrm>
            <a:off x="365760" y="395935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8899AA"/>
                </a:solidFill>
              </a:rPr>
              <a:t>Animals destroy crops at night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3200400" y="1143000"/>
            <a:ext cx="2743200" cy="3749040"/>
          </a:xfrm>
          <a:prstGeom prst="rect">
            <a:avLst/>
          </a:prstGeom>
          <a:solidFill>
            <a:srgbClr val="2E1A00"/>
          </a:solidFill>
          <a:ln w="25400">
            <a:solidFill>
              <a:srgbClr val="E65100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30000"/>
              </a:srgbClr>
            </a:outerShdw>
          </a:effectLst>
        </p:spPr>
      </p:sp>
      <p:pic>
        <p:nvPicPr>
          <p:cNvPr id="12" name="Image 2" descr="/tmp/kn_assets/ill_drought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3273552" y="1216152"/>
            <a:ext cx="2596896" cy="1920240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4279392" y="1005840"/>
            <a:ext cx="566928" cy="566928"/>
          </a:xfrm>
          <a:prstGeom prst="ellipse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4" name="Text 9"/>
          <p:cNvSpPr/>
          <p:nvPr/>
        </p:nvSpPr>
        <p:spPr>
          <a:xfrm>
            <a:off x="4279392" y="10058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2</a:t>
            </a:r>
            <a:endParaRPr lang="en-US" sz="2400" dirty="0"/>
          </a:p>
        </p:txBody>
      </p:sp>
      <p:sp>
        <p:nvSpPr>
          <p:cNvPr id="15" name="Text 10"/>
          <p:cNvSpPr/>
          <p:nvPr/>
        </p:nvSpPr>
        <p:spPr>
          <a:xfrm>
            <a:off x="3291840" y="3182112"/>
            <a:ext cx="2560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पानी की देखभाल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नहीं हो पाती</a:t>
            </a:r>
            <a:endParaRPr lang="en-US" sz="1800" dirty="0"/>
          </a:p>
        </p:txBody>
      </p:sp>
      <p:sp>
        <p:nvSpPr>
          <p:cNvPr id="16" name="Text 11"/>
          <p:cNvSpPr/>
          <p:nvPr/>
        </p:nvSpPr>
        <p:spPr>
          <a:xfrm>
            <a:off x="3291840" y="395935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8899AA"/>
                </a:solidFill>
              </a:rPr>
              <a:t>Nobody knows when to water</a:t>
            </a:r>
            <a:endParaRPr lang="en-US" sz="1200" dirty="0"/>
          </a:p>
        </p:txBody>
      </p:sp>
      <p:sp>
        <p:nvSpPr>
          <p:cNvPr id="17" name="Shape 12"/>
          <p:cNvSpPr/>
          <p:nvPr/>
        </p:nvSpPr>
        <p:spPr>
          <a:xfrm>
            <a:off x="6126480" y="1143000"/>
            <a:ext cx="2743200" cy="3749040"/>
          </a:xfrm>
          <a:prstGeom prst="rect">
            <a:avLst/>
          </a:prstGeom>
          <a:solidFill>
            <a:srgbClr val="0A0A2A"/>
          </a:solidFill>
          <a:ln w="25400">
            <a:solidFill>
              <a:srgbClr val="3F51B5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30000"/>
              </a:srgbClr>
            </a:outerShdw>
          </a:effectLst>
        </p:spPr>
      </p:sp>
      <p:pic>
        <p:nvPicPr>
          <p:cNvPr id="18" name="Image 3" descr="/tmp/kn_assets/ill_night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6199632" y="1216152"/>
            <a:ext cx="2596896" cy="1920240"/>
          </a:xfrm>
          <a:prstGeom prst="rect">
            <a:avLst/>
          </a:prstGeom>
        </p:spPr>
      </p:pic>
      <p:sp>
        <p:nvSpPr>
          <p:cNvPr id="19" name="Shape 13"/>
          <p:cNvSpPr/>
          <p:nvPr/>
        </p:nvSpPr>
        <p:spPr>
          <a:xfrm>
            <a:off x="7205472" y="1005840"/>
            <a:ext cx="566928" cy="566928"/>
          </a:xfrm>
          <a:prstGeom prst="ellipse">
            <a:avLst/>
          </a:prstGeom>
          <a:solidFill>
            <a:srgbClr val="3F51B5"/>
          </a:solidFill>
          <a:ln w="12700">
            <a:solidFill>
              <a:srgbClr val="3F51B5"/>
            </a:solidFill>
            <a:prstDash val="solid"/>
          </a:ln>
        </p:spPr>
      </p:sp>
      <p:sp>
        <p:nvSpPr>
          <p:cNvPr id="20" name="Text 14"/>
          <p:cNvSpPr/>
          <p:nvPr/>
        </p:nvSpPr>
        <p:spPr>
          <a:xfrm>
            <a:off x="7205472" y="10058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3</a:t>
            </a:r>
            <a:endParaRPr lang="en-US" sz="2400" dirty="0"/>
          </a:p>
        </p:txBody>
      </p:sp>
      <p:sp>
        <p:nvSpPr>
          <p:cNvPr id="21" name="Text 15"/>
          <p:cNvSpPr/>
          <p:nvPr/>
        </p:nvSpPr>
        <p:spPr>
          <a:xfrm>
            <a:off x="6217920" y="3182112"/>
            <a:ext cx="2560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रात को कोई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देखने वाला नहीं</a:t>
            </a:r>
            <a:endParaRPr lang="en-US" sz="1800" dirty="0"/>
          </a:p>
        </p:txBody>
      </p:sp>
      <p:sp>
        <p:nvSpPr>
          <p:cNvPr id="22" name="Text 16"/>
          <p:cNvSpPr/>
          <p:nvPr/>
        </p:nvSpPr>
        <p:spPr>
          <a:xfrm>
            <a:off x="6217920" y="395935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8899AA"/>
                </a:solidFill>
              </a:rPr>
              <a:t>No one watches at night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kn_assets/bg_solution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4114800" cy="5143500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pic>
        <p:nvPicPr>
          <p:cNvPr id="4" name="Image 1" descr="/tmp/kn_assets/ill_farmer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274320" y="457200"/>
            <a:ext cx="3566160" cy="402336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82880" y="182880"/>
            <a:ext cx="3749040" cy="731520"/>
          </a:xfrm>
          <a:prstGeom prst="rect">
            <a:avLst/>
          </a:prstGeom>
          <a:noFill/>
          <a:ln/>
          <a:effectLst>
            <a:outerShdw sx="100000" sy="100000" kx="0" ky="0" algn="bl" rotWithShape="0" blurRad="101600" dist="38100" dir="8100000">
              <a:srgbClr val="000000">
                <a:alpha val="50000"/>
              </a:srgbClr>
            </a:outerShdw>
          </a:effectLst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C10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कृषि नेत्र</a:t>
            </a:r>
            <a:endParaRPr lang="en-US" sz="3600" dirty="0"/>
          </a:p>
        </p:txBody>
      </p:sp>
      <p:sp>
        <p:nvSpPr>
          <p:cNvPr id="6" name="Shape 2"/>
          <p:cNvSpPr/>
          <p:nvPr/>
        </p:nvSpPr>
        <p:spPr>
          <a:xfrm>
            <a:off x="457200" y="4389120"/>
            <a:ext cx="3200400" cy="502920"/>
          </a:xfrm>
          <a:prstGeom prst="rect">
            <a:avLst/>
          </a:prstGeom>
          <a:solidFill>
            <a:srgbClr val="FF8F00"/>
          </a:solidFill>
          <a:ln w="12700">
            <a:solidFill>
              <a:srgbClr val="FF8F00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457200" y="438912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1A"/>
                </a:solidFill>
              </a:rPr>
              <a:t>आपकी फसल की आँख 👁</a:t>
            </a:r>
            <a:endParaRPr lang="en-US" sz="1400" dirty="0"/>
          </a:p>
        </p:txBody>
      </p:sp>
      <p:sp>
        <p:nvSpPr>
          <p:cNvPr id="8" name="Text 4"/>
          <p:cNvSpPr/>
          <p:nvPr/>
        </p:nvSpPr>
        <p:spPr>
          <a:xfrm>
            <a:off x="4297680" y="201168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हमारा जवाब</a:t>
            </a:r>
            <a:endParaRPr lang="en-US" sz="3200" dirty="0"/>
          </a:p>
        </p:txBody>
      </p:sp>
      <p:sp>
        <p:nvSpPr>
          <p:cNvPr id="9" name="Text 5"/>
          <p:cNvSpPr/>
          <p:nvPr/>
        </p:nvSpPr>
        <p:spPr>
          <a:xfrm>
            <a:off x="4297680" y="749808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57575"/>
                </a:solidFill>
              </a:rPr>
              <a:t>Our Solution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4297680" y="1042416"/>
            <a:ext cx="4480560" cy="45720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4297680" y="1261872"/>
            <a:ext cx="457200" cy="457200"/>
          </a:xfrm>
          <a:prstGeom prst="ellipse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4297680" y="12618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📡</a:t>
            </a:r>
            <a:endParaRPr lang="en-US" sz="2000" dirty="0"/>
          </a:p>
        </p:txBody>
      </p:sp>
      <p:sp>
        <p:nvSpPr>
          <p:cNvPr id="13" name="Text 9"/>
          <p:cNvSpPr/>
          <p:nvPr/>
        </p:nvSpPr>
        <p:spPr>
          <a:xfrm>
            <a:off x="4846320" y="1170432"/>
            <a:ext cx="3977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छोटा डिवाइस — खेत में लगाएं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4846320" y="1554480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57575"/>
                </a:solidFill>
              </a:rPr>
              <a:t>Small device, powerful protection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4297680" y="2039112"/>
            <a:ext cx="457200" cy="457200"/>
          </a:xfrm>
          <a:prstGeom prst="ellipse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4297680" y="20391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📱</a:t>
            </a:r>
            <a:endParaRPr lang="en-US" sz="2000" dirty="0"/>
          </a:p>
        </p:txBody>
      </p:sp>
      <p:sp>
        <p:nvSpPr>
          <p:cNvPr id="17" name="Text 13"/>
          <p:cNvSpPr/>
          <p:nvPr/>
        </p:nvSpPr>
        <p:spPr>
          <a:xfrm>
            <a:off x="4846320" y="1947672"/>
            <a:ext cx="3977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मोबाइल पर हर पल देखें</a:t>
            </a:r>
            <a:endParaRPr lang="en-US" sz="1600" dirty="0"/>
          </a:p>
        </p:txBody>
      </p:sp>
      <p:sp>
        <p:nvSpPr>
          <p:cNvPr id="18" name="Text 14"/>
          <p:cNvSpPr/>
          <p:nvPr/>
        </p:nvSpPr>
        <p:spPr>
          <a:xfrm>
            <a:off x="4846320" y="2331720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57575"/>
                </a:solidFill>
              </a:rPr>
              <a:t>Monitor everything on your phone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4297680" y="2816352"/>
            <a:ext cx="457200" cy="457200"/>
          </a:xfrm>
          <a:prstGeom prst="ellipse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4297680" y="28163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🤖</a:t>
            </a:r>
            <a:endParaRPr lang="en-US" sz="2000" dirty="0"/>
          </a:p>
        </p:txBody>
      </p:sp>
      <p:sp>
        <p:nvSpPr>
          <p:cNvPr id="21" name="Text 17"/>
          <p:cNvSpPr/>
          <p:nvPr/>
        </p:nvSpPr>
        <p:spPr>
          <a:xfrm>
            <a:off x="4846320" y="2724912"/>
            <a:ext cx="3977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खुद फसल को पानी देगा</a:t>
            </a:r>
            <a:endParaRPr lang="en-US" sz="1600" dirty="0"/>
          </a:p>
        </p:txBody>
      </p:sp>
      <p:sp>
        <p:nvSpPr>
          <p:cNvPr id="22" name="Text 18"/>
          <p:cNvSpPr/>
          <p:nvPr/>
        </p:nvSpPr>
        <p:spPr>
          <a:xfrm>
            <a:off x="4846320" y="3108960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57575"/>
                </a:solidFill>
              </a:rPr>
              <a:t>AI automatically waters your crop</a:t>
            </a:r>
            <a:endParaRPr lang="en-US" sz="1100" dirty="0"/>
          </a:p>
        </p:txBody>
      </p:sp>
      <p:sp>
        <p:nvSpPr>
          <p:cNvPr id="23" name="Shape 19"/>
          <p:cNvSpPr/>
          <p:nvPr/>
        </p:nvSpPr>
        <p:spPr>
          <a:xfrm>
            <a:off x="4297680" y="3593592"/>
            <a:ext cx="457200" cy="457200"/>
          </a:xfrm>
          <a:prstGeom prst="ellipse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4297680" y="35935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🐆</a:t>
            </a:r>
            <a:endParaRPr lang="en-US" sz="2000" dirty="0"/>
          </a:p>
        </p:txBody>
      </p:sp>
      <p:sp>
        <p:nvSpPr>
          <p:cNvPr id="25" name="Text 21"/>
          <p:cNvSpPr/>
          <p:nvPr/>
        </p:nvSpPr>
        <p:spPr>
          <a:xfrm>
            <a:off x="4846320" y="3502152"/>
            <a:ext cx="3977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जानवर आए — तुरंत अलार्म</a:t>
            </a:r>
            <a:endParaRPr lang="en-US" sz="1600" dirty="0"/>
          </a:p>
        </p:txBody>
      </p:sp>
      <p:sp>
        <p:nvSpPr>
          <p:cNvPr id="26" name="Text 22"/>
          <p:cNvSpPr/>
          <p:nvPr/>
        </p:nvSpPr>
        <p:spPr>
          <a:xfrm>
            <a:off x="4846320" y="3886200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57575"/>
                </a:solidFill>
              </a:rPr>
              <a:t>Instant animal intrusion alerts</a:t>
            </a:r>
            <a:endParaRPr lang="en-US" sz="1100" dirty="0"/>
          </a:p>
        </p:txBody>
      </p:sp>
      <p:sp>
        <p:nvSpPr>
          <p:cNvPr id="27" name="Shape 23"/>
          <p:cNvSpPr/>
          <p:nvPr/>
        </p:nvSpPr>
        <p:spPr>
          <a:xfrm>
            <a:off x="4297680" y="4370832"/>
            <a:ext cx="457200" cy="457200"/>
          </a:xfrm>
          <a:prstGeom prst="ellipse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4297680" y="43708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☀️</a:t>
            </a:r>
            <a:endParaRPr lang="en-US" sz="2000" dirty="0"/>
          </a:p>
        </p:txBody>
      </p:sp>
      <p:sp>
        <p:nvSpPr>
          <p:cNvPr id="29" name="Text 25"/>
          <p:cNvSpPr/>
          <p:nvPr/>
        </p:nvSpPr>
        <p:spPr>
          <a:xfrm>
            <a:off x="4846320" y="4279392"/>
            <a:ext cx="3977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Solar — बिजली की ज़रूरत नहीं</a:t>
            </a:r>
            <a:endParaRPr lang="en-US" sz="1600" dirty="0"/>
          </a:p>
        </p:txBody>
      </p:sp>
      <p:sp>
        <p:nvSpPr>
          <p:cNvPr id="30" name="Text 26"/>
          <p:cNvSpPr/>
          <p:nvPr/>
        </p:nvSpPr>
        <p:spPr>
          <a:xfrm>
            <a:off x="4846320" y="4663440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57575"/>
                </a:solidFill>
              </a:rPr>
              <a:t>Solar powered, works anywhere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kn_assets/bg_step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-1371600" y="3200400"/>
            <a:ext cx="5486400" cy="3657600"/>
          </a:xfrm>
          <a:prstGeom prst="ellipse">
            <a:avLst/>
          </a:prstGeom>
          <a:solidFill>
            <a:srgbClr val="4CAF50">
              <a:alpha val="12000"/>
            </a:srgbClr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64592"/>
            <a:ext cx="8229600" cy="640080"/>
          </a:xfrm>
          <a:prstGeom prst="rect">
            <a:avLst/>
          </a:prstGeom>
          <a:noFill/>
          <a:ln/>
          <a:effectLst>
            <a:outerShdw sx="100000" sy="100000" kx="0" ky="0" algn="bl" rotWithShape="0" blurRad="127000" dist="38100" dir="8100000">
              <a:srgbClr val="000000">
                <a:alpha val="50000"/>
              </a:srgbClr>
            </a:outerShdw>
          </a:effectLst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बस 3 काम करो!</a:t>
            </a:r>
            <a:endParaRPr lang="en-US" sz="4400" dirty="0"/>
          </a:p>
        </p:txBody>
      </p:sp>
      <p:sp>
        <p:nvSpPr>
          <p:cNvPr id="5" name="Text 2"/>
          <p:cNvSpPr/>
          <p:nvPr/>
        </p:nvSpPr>
        <p:spPr>
          <a:xfrm>
            <a:off x="457200" y="822960"/>
            <a:ext cx="8229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C107"/>
                </a:solidFill>
              </a:rPr>
              <a:t>Just 3 Simple Steps — आसान है!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457200" y="1298448"/>
            <a:ext cx="2560320" cy="3611880"/>
          </a:xfrm>
          <a:prstGeom prst="rect">
            <a:avLst/>
          </a:prstGeom>
          <a:solidFill>
            <a:srgbClr val="000000">
              <a:alpha val="50000"/>
            </a:srgbClr>
          </a:solidFill>
          <a:ln w="12700">
            <a:solidFill>
              <a:srgbClr val="FFC107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pic>
        <p:nvPicPr>
          <p:cNvPr id="7" name="Image 1" descr="/tmp/kn_assets/ill_step1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30352" y="1371600"/>
            <a:ext cx="2414016" cy="1536192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1444752" y="1115568"/>
            <a:ext cx="585216" cy="585216"/>
          </a:xfrm>
          <a:prstGeom prst="ellipse">
            <a:avLst/>
          </a:prstGeom>
          <a:solidFill>
            <a:srgbClr val="FF8F00"/>
          </a:solidFill>
          <a:ln w="12700">
            <a:solidFill>
              <a:srgbClr val="FF8F00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1444752" y="1115568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A1A1A"/>
                </a:solidFill>
              </a:rPr>
              <a:t>1</a:t>
            </a:r>
            <a:endParaRPr lang="en-US" sz="2600" dirty="0"/>
          </a:p>
        </p:txBody>
      </p:sp>
      <p:sp>
        <p:nvSpPr>
          <p:cNvPr id="10" name="Text 6"/>
          <p:cNvSpPr/>
          <p:nvPr/>
        </p:nvSpPr>
        <p:spPr>
          <a:xfrm>
            <a:off x="457200" y="137160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🔧</a:t>
            </a:r>
            <a:endParaRPr lang="en-US" sz="3200" dirty="0"/>
          </a:p>
        </p:txBody>
      </p:sp>
      <p:sp>
        <p:nvSpPr>
          <p:cNvPr id="11" name="Text 7"/>
          <p:cNvSpPr/>
          <p:nvPr/>
        </p:nvSpPr>
        <p:spPr>
          <a:xfrm>
            <a:off x="548640" y="2971800"/>
            <a:ext cx="2377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डिवाइस लगाओ</a:t>
            </a:r>
            <a:endParaRPr lang="en-US" sz="2200" dirty="0"/>
          </a:p>
        </p:txBody>
      </p:sp>
      <p:sp>
        <p:nvSpPr>
          <p:cNvPr id="12" name="Text 8"/>
          <p:cNvSpPr/>
          <p:nvPr/>
        </p:nvSpPr>
        <p:spPr>
          <a:xfrm>
            <a:off x="548640" y="3447288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C107"/>
                </a:solidFill>
              </a:rPr>
              <a:t>खेत में 5 मिनट में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548640" y="3794760"/>
            <a:ext cx="2377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CCFFCC"/>
                </a:solidFill>
              </a:rPr>
              <a:t>Install device in 5 minutes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3291840" y="1298448"/>
            <a:ext cx="2560320" cy="3611880"/>
          </a:xfrm>
          <a:prstGeom prst="rect">
            <a:avLst/>
          </a:prstGeom>
          <a:solidFill>
            <a:srgbClr val="000000">
              <a:alpha val="50000"/>
            </a:srgbClr>
          </a:solidFill>
          <a:ln w="12700">
            <a:solidFill>
              <a:srgbClr val="FFC107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pic>
        <p:nvPicPr>
          <p:cNvPr id="15" name="Image 2" descr="/tmp/kn_assets/ill_step2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3364992" y="1371600"/>
            <a:ext cx="2414016" cy="1536192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4279392" y="1115568"/>
            <a:ext cx="585216" cy="585216"/>
          </a:xfrm>
          <a:prstGeom prst="ellipse">
            <a:avLst/>
          </a:prstGeom>
          <a:solidFill>
            <a:srgbClr val="FF8F00"/>
          </a:solidFill>
          <a:ln w="12700">
            <a:solidFill>
              <a:srgbClr val="FF8F00"/>
            </a:solidFill>
            <a:prstDash val="solid"/>
          </a:ln>
        </p:spPr>
      </p:sp>
      <p:sp>
        <p:nvSpPr>
          <p:cNvPr id="17" name="Text 12"/>
          <p:cNvSpPr/>
          <p:nvPr/>
        </p:nvSpPr>
        <p:spPr>
          <a:xfrm>
            <a:off x="4279392" y="1115568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A1A1A"/>
                </a:solidFill>
              </a:rPr>
              <a:t>2</a:t>
            </a:r>
            <a:endParaRPr lang="en-US" sz="2600" dirty="0"/>
          </a:p>
        </p:txBody>
      </p:sp>
      <p:sp>
        <p:nvSpPr>
          <p:cNvPr id="18" name="Text 13"/>
          <p:cNvSpPr/>
          <p:nvPr/>
        </p:nvSpPr>
        <p:spPr>
          <a:xfrm>
            <a:off x="3291840" y="137160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📲</a:t>
            </a:r>
            <a:endParaRPr lang="en-US" sz="3200" dirty="0"/>
          </a:p>
        </p:txBody>
      </p:sp>
      <p:sp>
        <p:nvSpPr>
          <p:cNvPr id="19" name="Text 14"/>
          <p:cNvSpPr/>
          <p:nvPr/>
        </p:nvSpPr>
        <p:spPr>
          <a:xfrm>
            <a:off x="3383280" y="2971800"/>
            <a:ext cx="2377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 से जोड़ो</a:t>
            </a:r>
            <a:endParaRPr lang="en-US" sz="2200" dirty="0"/>
          </a:p>
        </p:txBody>
      </p:sp>
      <p:sp>
        <p:nvSpPr>
          <p:cNvPr id="20" name="Text 15"/>
          <p:cNvSpPr/>
          <p:nvPr/>
        </p:nvSpPr>
        <p:spPr>
          <a:xfrm>
            <a:off x="3383280" y="3447288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C107"/>
                </a:solidFill>
              </a:rPr>
              <a:t>मोबाइल पर देखो</a:t>
            </a:r>
            <a:endParaRPr lang="en-US" sz="1500" dirty="0"/>
          </a:p>
        </p:txBody>
      </p:sp>
      <p:sp>
        <p:nvSpPr>
          <p:cNvPr id="21" name="Text 16"/>
          <p:cNvSpPr/>
          <p:nvPr/>
        </p:nvSpPr>
        <p:spPr>
          <a:xfrm>
            <a:off x="3383280" y="3794760"/>
            <a:ext cx="2377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CCFFCC"/>
                </a:solidFill>
              </a:rPr>
              <a:t>Connect to your smartphone</a:t>
            </a:r>
            <a:endParaRPr lang="en-US" sz="1200" dirty="0"/>
          </a:p>
        </p:txBody>
      </p:sp>
      <p:sp>
        <p:nvSpPr>
          <p:cNvPr id="22" name="Shape 17"/>
          <p:cNvSpPr/>
          <p:nvPr/>
        </p:nvSpPr>
        <p:spPr>
          <a:xfrm>
            <a:off x="6126480" y="1298448"/>
            <a:ext cx="2560320" cy="3611880"/>
          </a:xfrm>
          <a:prstGeom prst="rect">
            <a:avLst/>
          </a:prstGeom>
          <a:solidFill>
            <a:srgbClr val="000000">
              <a:alpha val="50000"/>
            </a:srgbClr>
          </a:solidFill>
          <a:ln w="12700">
            <a:solidFill>
              <a:srgbClr val="FFC107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pic>
        <p:nvPicPr>
          <p:cNvPr id="23" name="Image 3" descr="/tmp/kn_assets/ill_step3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6199632" y="1371600"/>
            <a:ext cx="2414016" cy="1536192"/>
          </a:xfrm>
          <a:prstGeom prst="rect">
            <a:avLst/>
          </a:prstGeom>
        </p:spPr>
      </p:pic>
      <p:sp>
        <p:nvSpPr>
          <p:cNvPr id="24" name="Shape 18"/>
          <p:cNvSpPr/>
          <p:nvPr/>
        </p:nvSpPr>
        <p:spPr>
          <a:xfrm>
            <a:off x="7114032" y="1115568"/>
            <a:ext cx="585216" cy="585216"/>
          </a:xfrm>
          <a:prstGeom prst="ellipse">
            <a:avLst/>
          </a:prstGeom>
          <a:solidFill>
            <a:srgbClr val="FF8F00"/>
          </a:solidFill>
          <a:ln w="12700">
            <a:solidFill>
              <a:srgbClr val="FF8F00"/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7114032" y="1115568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A1A1A"/>
                </a:solidFill>
              </a:rPr>
              <a:t>3</a:t>
            </a:r>
            <a:endParaRPr lang="en-US" sz="2600" dirty="0"/>
          </a:p>
        </p:txBody>
      </p:sp>
      <p:sp>
        <p:nvSpPr>
          <p:cNvPr id="26" name="Text 20"/>
          <p:cNvSpPr/>
          <p:nvPr/>
        </p:nvSpPr>
        <p:spPr>
          <a:xfrm>
            <a:off x="6126480" y="137160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😴</a:t>
            </a:r>
            <a:endParaRPr lang="en-US" sz="3200" dirty="0"/>
          </a:p>
        </p:txBody>
      </p:sp>
      <p:sp>
        <p:nvSpPr>
          <p:cNvPr id="27" name="Text 21"/>
          <p:cNvSpPr/>
          <p:nvPr/>
        </p:nvSpPr>
        <p:spPr>
          <a:xfrm>
            <a:off x="6217920" y="2971800"/>
            <a:ext cx="2377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चैन से सोओ</a:t>
            </a:r>
            <a:endParaRPr lang="en-US" sz="2200" dirty="0"/>
          </a:p>
        </p:txBody>
      </p:sp>
      <p:sp>
        <p:nvSpPr>
          <p:cNvPr id="28" name="Text 22"/>
          <p:cNvSpPr/>
          <p:nvPr/>
        </p:nvSpPr>
        <p:spPr>
          <a:xfrm>
            <a:off x="6217920" y="3447288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C107"/>
                </a:solidFill>
              </a:rPr>
              <a:t>KrishiNetra देखेगा</a:t>
            </a:r>
            <a:endParaRPr lang="en-US" sz="1500" dirty="0"/>
          </a:p>
        </p:txBody>
      </p:sp>
      <p:sp>
        <p:nvSpPr>
          <p:cNvPr id="29" name="Text 23"/>
          <p:cNvSpPr/>
          <p:nvPr/>
        </p:nvSpPr>
        <p:spPr>
          <a:xfrm>
            <a:off x="6217920" y="3794760"/>
            <a:ext cx="2377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CCFFCC"/>
                </a:solidFill>
              </a:rPr>
              <a:t>Sleep — we watch for you</a:t>
            </a:r>
            <a:endParaRPr lang="en-US" sz="1200" dirty="0"/>
          </a:p>
        </p:txBody>
      </p:sp>
      <p:sp>
        <p:nvSpPr>
          <p:cNvPr id="30" name="Shape 24"/>
          <p:cNvSpPr/>
          <p:nvPr/>
        </p:nvSpPr>
        <p:spPr>
          <a:xfrm>
            <a:off x="3127248" y="3154680"/>
            <a:ext cx="164592" cy="73152"/>
          </a:xfrm>
          <a:prstGeom prst="rect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</p:sp>
      <p:sp>
        <p:nvSpPr>
          <p:cNvPr id="31" name="Shape 25"/>
          <p:cNvSpPr/>
          <p:nvPr/>
        </p:nvSpPr>
        <p:spPr>
          <a:xfrm>
            <a:off x="5961888" y="3154680"/>
            <a:ext cx="164592" cy="73152"/>
          </a:xfrm>
          <a:prstGeom prst="rect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kn_assets/bg_feature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969264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365760" y="91440"/>
            <a:ext cx="84124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KrishiNetra क्या क्या देखता है?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365760" y="603504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CCFFCC"/>
                </a:solidFill>
              </a:rPr>
              <a:t>What does KrishiNetra monitor for you?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347472" y="1115568"/>
            <a:ext cx="1938528" cy="17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E8F5E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347472" y="1115568"/>
            <a:ext cx="1938528" cy="118872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47472" y="1207008"/>
            <a:ext cx="1938528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00000"/>
                </a:solidFill>
              </a:rPr>
              <a:t>🌡️</a:t>
            </a:r>
            <a:endParaRPr lang="en-US" sz="4000" dirty="0"/>
          </a:p>
        </p:txBody>
      </p:sp>
      <p:sp>
        <p:nvSpPr>
          <p:cNvPr id="9" name="Text 6"/>
          <p:cNvSpPr/>
          <p:nvPr/>
        </p:nvSpPr>
        <p:spPr>
          <a:xfrm>
            <a:off x="393192" y="2029968"/>
            <a:ext cx="18470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तापमान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393192" y="2487168"/>
            <a:ext cx="18470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757575"/>
                </a:solidFill>
              </a:rPr>
              <a:t>Temperature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2468880" y="1115568"/>
            <a:ext cx="1938528" cy="17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E8F5E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2468880" y="1115568"/>
            <a:ext cx="1938528" cy="11887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2468880" y="1207008"/>
            <a:ext cx="1938528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00000"/>
                </a:solidFill>
              </a:rPr>
              <a:t>💧</a:t>
            </a:r>
            <a:endParaRPr lang="en-US" sz="4000" dirty="0"/>
          </a:p>
        </p:txBody>
      </p:sp>
      <p:sp>
        <p:nvSpPr>
          <p:cNvPr id="14" name="Text 11"/>
          <p:cNvSpPr/>
          <p:nvPr/>
        </p:nvSpPr>
        <p:spPr>
          <a:xfrm>
            <a:off x="2514600" y="2029968"/>
            <a:ext cx="18470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मिट्टी की नमी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2514600" y="2487168"/>
            <a:ext cx="18470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757575"/>
                </a:solidFill>
              </a:rPr>
              <a:t>Soil Moisture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4590288" y="1115568"/>
            <a:ext cx="1938528" cy="17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E8F5E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4590288" y="1115568"/>
            <a:ext cx="1938528" cy="118872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590288" y="1207008"/>
            <a:ext cx="1938528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00000"/>
                </a:solidFill>
              </a:rPr>
              <a:t>📸</a:t>
            </a:r>
            <a:endParaRPr lang="en-US" sz="4000" dirty="0"/>
          </a:p>
        </p:txBody>
      </p:sp>
      <p:sp>
        <p:nvSpPr>
          <p:cNvPr id="19" name="Text 16"/>
          <p:cNvSpPr/>
          <p:nvPr/>
        </p:nvSpPr>
        <p:spPr>
          <a:xfrm>
            <a:off x="4636008" y="2029968"/>
            <a:ext cx="18470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लाइव फोटो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4636008" y="2487168"/>
            <a:ext cx="18470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757575"/>
                </a:solidFill>
              </a:rPr>
              <a:t>Live Camera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6711696" y="1115568"/>
            <a:ext cx="1938528" cy="17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E8F5E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6711696" y="1115568"/>
            <a:ext cx="1938528" cy="118872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711696" y="1207008"/>
            <a:ext cx="1938528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00000"/>
                </a:solidFill>
              </a:rPr>
              <a:t>🐆</a:t>
            </a:r>
            <a:endParaRPr lang="en-US" sz="4000" dirty="0"/>
          </a:p>
        </p:txBody>
      </p:sp>
      <p:sp>
        <p:nvSpPr>
          <p:cNvPr id="24" name="Text 21"/>
          <p:cNvSpPr/>
          <p:nvPr/>
        </p:nvSpPr>
        <p:spPr>
          <a:xfrm>
            <a:off x="6757416" y="2029968"/>
            <a:ext cx="18470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जानवर पहचाने</a:t>
            </a:r>
            <a:endParaRPr lang="en-US" sz="1500" dirty="0"/>
          </a:p>
        </p:txBody>
      </p:sp>
      <p:sp>
        <p:nvSpPr>
          <p:cNvPr id="25" name="Text 22"/>
          <p:cNvSpPr/>
          <p:nvPr/>
        </p:nvSpPr>
        <p:spPr>
          <a:xfrm>
            <a:off x="6757416" y="2487168"/>
            <a:ext cx="18470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757575"/>
                </a:solidFill>
              </a:rPr>
              <a:t>Animal Detection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347472" y="3054096"/>
            <a:ext cx="1938528" cy="17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E8F5E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347472" y="3054096"/>
            <a:ext cx="1938528" cy="11887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347472" y="3145536"/>
            <a:ext cx="1938528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00000"/>
                </a:solidFill>
              </a:rPr>
              <a:t>🔋</a:t>
            </a:r>
            <a:endParaRPr lang="en-US" sz="4000" dirty="0"/>
          </a:p>
        </p:txBody>
      </p:sp>
      <p:sp>
        <p:nvSpPr>
          <p:cNvPr id="29" name="Text 26"/>
          <p:cNvSpPr/>
          <p:nvPr/>
        </p:nvSpPr>
        <p:spPr>
          <a:xfrm>
            <a:off x="393192" y="3968496"/>
            <a:ext cx="18470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Battery Level</a:t>
            </a:r>
            <a:endParaRPr lang="en-US" sz="1500" dirty="0"/>
          </a:p>
        </p:txBody>
      </p:sp>
      <p:sp>
        <p:nvSpPr>
          <p:cNvPr id="30" name="Text 27"/>
          <p:cNvSpPr/>
          <p:nvPr/>
        </p:nvSpPr>
        <p:spPr>
          <a:xfrm>
            <a:off x="393192" y="4425696"/>
            <a:ext cx="18470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757575"/>
                </a:solidFill>
              </a:rPr>
              <a:t>Battery Monitor</a:t>
            </a:r>
            <a:endParaRPr lang="en-US" sz="1000" dirty="0"/>
          </a:p>
        </p:txBody>
      </p:sp>
      <p:sp>
        <p:nvSpPr>
          <p:cNvPr id="31" name="Shape 28"/>
          <p:cNvSpPr/>
          <p:nvPr/>
        </p:nvSpPr>
        <p:spPr>
          <a:xfrm>
            <a:off x="2468880" y="3054096"/>
            <a:ext cx="1938528" cy="17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E8F5E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2" name="Shape 29"/>
          <p:cNvSpPr/>
          <p:nvPr/>
        </p:nvSpPr>
        <p:spPr>
          <a:xfrm>
            <a:off x="2468880" y="3054096"/>
            <a:ext cx="1938528" cy="118872"/>
          </a:xfrm>
          <a:prstGeom prst="rect">
            <a:avLst/>
          </a:prstGeom>
          <a:solidFill>
            <a:srgbClr val="FF8F00"/>
          </a:solidFill>
          <a:ln w="12700">
            <a:solidFill>
              <a:srgbClr val="FF8F00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2468880" y="3145536"/>
            <a:ext cx="1938528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00000"/>
                </a:solidFill>
              </a:rPr>
              <a:t>📱</a:t>
            </a:r>
            <a:endParaRPr lang="en-US" sz="4000" dirty="0"/>
          </a:p>
        </p:txBody>
      </p:sp>
      <p:sp>
        <p:nvSpPr>
          <p:cNvPr id="34" name="Text 31"/>
          <p:cNvSpPr/>
          <p:nvPr/>
        </p:nvSpPr>
        <p:spPr>
          <a:xfrm>
            <a:off x="2514600" y="3968496"/>
            <a:ext cx="18470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मोबाइल अलर्ट</a:t>
            </a:r>
            <a:endParaRPr lang="en-US" sz="1500" dirty="0"/>
          </a:p>
        </p:txBody>
      </p:sp>
      <p:sp>
        <p:nvSpPr>
          <p:cNvPr id="35" name="Text 32"/>
          <p:cNvSpPr/>
          <p:nvPr/>
        </p:nvSpPr>
        <p:spPr>
          <a:xfrm>
            <a:off x="2514600" y="4425696"/>
            <a:ext cx="18470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757575"/>
                </a:solidFill>
              </a:rPr>
              <a:t>Phone Alerts</a:t>
            </a:r>
            <a:endParaRPr lang="en-US" sz="1000" dirty="0"/>
          </a:p>
        </p:txBody>
      </p:sp>
      <p:sp>
        <p:nvSpPr>
          <p:cNvPr id="36" name="Shape 33"/>
          <p:cNvSpPr/>
          <p:nvPr/>
        </p:nvSpPr>
        <p:spPr>
          <a:xfrm>
            <a:off x="4590288" y="3054096"/>
            <a:ext cx="1938528" cy="17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E8F5E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7" name="Shape 34"/>
          <p:cNvSpPr/>
          <p:nvPr/>
        </p:nvSpPr>
        <p:spPr>
          <a:xfrm>
            <a:off x="4590288" y="3054096"/>
            <a:ext cx="1938528" cy="118872"/>
          </a:xfrm>
          <a:prstGeom prst="rect">
            <a:avLst/>
          </a:prstGeom>
          <a:solidFill>
            <a:srgbClr val="F57F17"/>
          </a:solidFill>
          <a:ln w="12700">
            <a:solidFill>
              <a:srgbClr val="F57F17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4590288" y="3145536"/>
            <a:ext cx="1938528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00000"/>
                </a:solidFill>
              </a:rPr>
              <a:t>☀️</a:t>
            </a:r>
            <a:endParaRPr lang="en-US" sz="4000" dirty="0"/>
          </a:p>
        </p:txBody>
      </p:sp>
      <p:sp>
        <p:nvSpPr>
          <p:cNvPr id="39" name="Text 36"/>
          <p:cNvSpPr/>
          <p:nvPr/>
        </p:nvSpPr>
        <p:spPr>
          <a:xfrm>
            <a:off x="4636008" y="3968496"/>
            <a:ext cx="18470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Solar Power</a:t>
            </a:r>
            <a:endParaRPr lang="en-US" sz="1500" dirty="0"/>
          </a:p>
        </p:txBody>
      </p:sp>
      <p:sp>
        <p:nvSpPr>
          <p:cNvPr id="40" name="Text 37"/>
          <p:cNvSpPr/>
          <p:nvPr/>
        </p:nvSpPr>
        <p:spPr>
          <a:xfrm>
            <a:off x="4636008" y="4425696"/>
            <a:ext cx="18470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757575"/>
                </a:solidFill>
              </a:rPr>
              <a:t>No electricity</a:t>
            </a:r>
            <a:endParaRPr lang="en-US" sz="1000" dirty="0"/>
          </a:p>
        </p:txBody>
      </p:sp>
      <p:sp>
        <p:nvSpPr>
          <p:cNvPr id="41" name="Shape 38"/>
          <p:cNvSpPr/>
          <p:nvPr/>
        </p:nvSpPr>
        <p:spPr>
          <a:xfrm>
            <a:off x="6711696" y="3054096"/>
            <a:ext cx="1938528" cy="17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E8F5E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2" name="Shape 39"/>
          <p:cNvSpPr/>
          <p:nvPr/>
        </p:nvSpPr>
        <p:spPr>
          <a:xfrm>
            <a:off x="6711696" y="3054096"/>
            <a:ext cx="1938528" cy="118872"/>
          </a:xfrm>
          <a:prstGeom prst="rect">
            <a:avLst/>
          </a:prstGeom>
          <a:solidFill>
            <a:srgbClr val="0277BD"/>
          </a:solidFill>
          <a:ln w="12700">
            <a:solidFill>
              <a:srgbClr val="0277BD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6711696" y="3145536"/>
            <a:ext cx="1938528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00000"/>
                </a:solidFill>
              </a:rPr>
              <a:t>💦</a:t>
            </a:r>
            <a:endParaRPr lang="en-US" sz="4000" dirty="0"/>
          </a:p>
        </p:txBody>
      </p:sp>
      <p:sp>
        <p:nvSpPr>
          <p:cNvPr id="44" name="Text 41"/>
          <p:cNvSpPr/>
          <p:nvPr/>
        </p:nvSpPr>
        <p:spPr>
          <a:xfrm>
            <a:off x="6757416" y="3968496"/>
            <a:ext cx="18470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खुद पानी दे</a:t>
            </a:r>
            <a:endParaRPr lang="en-US" sz="1500" dirty="0"/>
          </a:p>
        </p:txBody>
      </p:sp>
      <p:sp>
        <p:nvSpPr>
          <p:cNvPr id="45" name="Text 42"/>
          <p:cNvSpPr/>
          <p:nvPr/>
        </p:nvSpPr>
        <p:spPr>
          <a:xfrm>
            <a:off x="6757416" y="4425696"/>
            <a:ext cx="18470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757575"/>
                </a:solidFill>
              </a:rPr>
              <a:t>Auto Watering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kn_assets/bg_solar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/tmp/kn_assets/ill_solar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82880" y="457200"/>
            <a:ext cx="3840480" cy="41148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914400" y="27432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C107"/>
                </a:solidFill>
              </a:rPr>
              <a:t>✦</a:t>
            </a:r>
            <a:endParaRPr lang="en-US" sz="1400" dirty="0"/>
          </a:p>
        </p:txBody>
      </p:sp>
      <p:sp>
        <p:nvSpPr>
          <p:cNvPr id="5" name="Text 1"/>
          <p:cNvSpPr/>
          <p:nvPr/>
        </p:nvSpPr>
        <p:spPr>
          <a:xfrm>
            <a:off x="2286000" y="13716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C107"/>
                </a:solidFill>
              </a:rPr>
              <a:t>✦</a:t>
            </a:r>
            <a:endParaRPr lang="en-US" sz="1400" dirty="0"/>
          </a:p>
        </p:txBody>
      </p:sp>
      <p:sp>
        <p:nvSpPr>
          <p:cNvPr id="6" name="Text 2"/>
          <p:cNvSpPr/>
          <p:nvPr/>
        </p:nvSpPr>
        <p:spPr>
          <a:xfrm>
            <a:off x="3474720" y="36576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C107"/>
                </a:solidFill>
              </a:rPr>
              <a:t>✦</a:t>
            </a:r>
            <a:endParaRPr lang="en-US" sz="1400" dirty="0"/>
          </a:p>
        </p:txBody>
      </p:sp>
      <p:sp>
        <p:nvSpPr>
          <p:cNvPr id="7" name="Text 3"/>
          <p:cNvSpPr/>
          <p:nvPr/>
        </p:nvSpPr>
        <p:spPr>
          <a:xfrm>
            <a:off x="4572000" y="18288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C107"/>
                </a:solidFill>
              </a:rPr>
              <a:t>✦</a:t>
            </a:r>
            <a:endParaRPr lang="en-US" sz="1400" dirty="0"/>
          </a:p>
        </p:txBody>
      </p:sp>
      <p:sp>
        <p:nvSpPr>
          <p:cNvPr id="8" name="Text 4"/>
          <p:cNvSpPr/>
          <p:nvPr/>
        </p:nvSpPr>
        <p:spPr>
          <a:xfrm>
            <a:off x="6400800" y="3200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C107"/>
                </a:solidFill>
              </a:rPr>
              <a:t>✦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8229600" y="2286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C107"/>
                </a:solidFill>
              </a:rPr>
              <a:t>✦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4389120" y="91440"/>
            <a:ext cx="4572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dirty="0">
                <a:solidFill>
                  <a:srgbClr val="000000"/>
                </a:solidFill>
              </a:rPr>
              <a:t>☀️</a:t>
            </a:r>
            <a:endParaRPr lang="en-US" sz="6000" dirty="0"/>
          </a:p>
        </p:txBody>
      </p:sp>
      <p:sp>
        <p:nvSpPr>
          <p:cNvPr id="11" name="Text 7"/>
          <p:cNvSpPr/>
          <p:nvPr/>
        </p:nvSpPr>
        <p:spPr>
          <a:xfrm>
            <a:off x="4389120" y="868680"/>
            <a:ext cx="4572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FC10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बिजली नहीं?</a:t>
            </a:r>
            <a:endParaRPr lang="en-US" sz="4600" dirty="0"/>
          </a:p>
        </p:txBody>
      </p:sp>
      <p:sp>
        <p:nvSpPr>
          <p:cNvPr id="12" name="Text 8"/>
          <p:cNvSpPr/>
          <p:nvPr/>
        </p:nvSpPr>
        <p:spPr>
          <a:xfrm>
            <a:off x="4389120" y="1536192"/>
            <a:ext cx="45720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कोई बात नहीं!</a:t>
            </a:r>
            <a:endParaRPr lang="en-US" sz="3600" dirty="0"/>
          </a:p>
        </p:txBody>
      </p:sp>
      <p:sp>
        <p:nvSpPr>
          <p:cNvPr id="13" name="Text 9"/>
          <p:cNvSpPr/>
          <p:nvPr/>
        </p:nvSpPr>
        <p:spPr>
          <a:xfrm>
            <a:off x="4389120" y="2084832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AACCAA"/>
                </a:solidFill>
              </a:rPr>
              <a:t>No Electricity? No Problem!</a:t>
            </a:r>
            <a:endParaRPr lang="en-US" sz="1600" dirty="0"/>
          </a:p>
        </p:txBody>
      </p:sp>
      <p:sp>
        <p:nvSpPr>
          <p:cNvPr id="14" name="Shape 10"/>
          <p:cNvSpPr/>
          <p:nvPr/>
        </p:nvSpPr>
        <p:spPr>
          <a:xfrm>
            <a:off x="4389120" y="2331720"/>
            <a:ext cx="4526280" cy="493776"/>
          </a:xfrm>
          <a:prstGeom prst="rect">
            <a:avLst/>
          </a:prstGeom>
          <a:solidFill>
            <a:srgbClr val="000000">
              <a:alpha val="55000"/>
            </a:srgbClr>
          </a:solidFill>
          <a:ln w="12700">
            <a:solidFill>
              <a:srgbClr val="FFC107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4526280" y="2331720"/>
            <a:ext cx="425196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☀️  Solar panel से चलता है</a:t>
            </a:r>
            <a:endParaRPr lang="en-US" sz="1600" dirty="0"/>
          </a:p>
        </p:txBody>
      </p:sp>
      <p:sp>
        <p:nvSpPr>
          <p:cNvPr id="16" name="Shape 12"/>
          <p:cNvSpPr/>
          <p:nvPr/>
        </p:nvSpPr>
        <p:spPr>
          <a:xfrm>
            <a:off x="4389120" y="2898648"/>
            <a:ext cx="4526280" cy="493776"/>
          </a:xfrm>
          <a:prstGeom prst="rect">
            <a:avLst/>
          </a:prstGeom>
          <a:solidFill>
            <a:srgbClr val="000000">
              <a:alpha val="55000"/>
            </a:srgbClr>
          </a:solidFill>
          <a:ln w="12700">
            <a:solidFill>
              <a:srgbClr val="FFC107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4526280" y="2898648"/>
            <a:ext cx="425196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🔋  2x18650 बैटरी — 72+ घंटे backup</a:t>
            </a:r>
            <a:endParaRPr lang="en-US" sz="1600" dirty="0"/>
          </a:p>
        </p:txBody>
      </p:sp>
      <p:sp>
        <p:nvSpPr>
          <p:cNvPr id="18" name="Shape 14"/>
          <p:cNvSpPr/>
          <p:nvPr/>
        </p:nvSpPr>
        <p:spPr>
          <a:xfrm>
            <a:off x="4389120" y="3465576"/>
            <a:ext cx="4526280" cy="493776"/>
          </a:xfrm>
          <a:prstGeom prst="rect">
            <a:avLst/>
          </a:prstGeom>
          <a:solidFill>
            <a:srgbClr val="000000">
              <a:alpha val="55000"/>
            </a:srgbClr>
          </a:solidFill>
          <a:ln w="12700">
            <a:solidFill>
              <a:srgbClr val="FFC107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4526280" y="3465576"/>
            <a:ext cx="425196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  खेत में बिजली की ज़रूरत नहीं</a:t>
            </a:r>
            <a:endParaRPr lang="en-US" sz="1600" dirty="0"/>
          </a:p>
        </p:txBody>
      </p:sp>
      <p:sp>
        <p:nvSpPr>
          <p:cNvPr id="20" name="Shape 16"/>
          <p:cNvSpPr/>
          <p:nvPr/>
        </p:nvSpPr>
        <p:spPr>
          <a:xfrm>
            <a:off x="4389120" y="4032504"/>
            <a:ext cx="4526280" cy="493776"/>
          </a:xfrm>
          <a:prstGeom prst="rect">
            <a:avLst/>
          </a:prstGeom>
          <a:solidFill>
            <a:srgbClr val="000000">
              <a:alpha val="55000"/>
            </a:srgbClr>
          </a:solidFill>
          <a:ln w="12700">
            <a:solidFill>
              <a:srgbClr val="FFC107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4526280" y="4032504"/>
            <a:ext cx="425196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🌙  रात में भी पूरा काम करता है</a:t>
            </a:r>
            <a:endParaRPr lang="en-US" sz="1600" dirty="0"/>
          </a:p>
        </p:txBody>
      </p:sp>
      <p:sp>
        <p:nvSpPr>
          <p:cNvPr id="22" name="Shape 18"/>
          <p:cNvSpPr/>
          <p:nvPr/>
        </p:nvSpPr>
        <p:spPr>
          <a:xfrm>
            <a:off x="731520" y="4498848"/>
            <a:ext cx="4114800" cy="411480"/>
          </a:xfrm>
          <a:prstGeom prst="rect">
            <a:avLst/>
          </a:prstGeom>
          <a:solidFill>
            <a:srgbClr val="FF8F00"/>
          </a:solidFill>
          <a:ln w="12700">
            <a:solidFill>
              <a:srgbClr val="FF8F00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731520" y="4498848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</a:rPr>
              <a:t>Gaon ke liye bana  •  Made for Rural India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kn_assets/bg_mobil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65760" y="137160"/>
            <a:ext cx="8412480" cy="594360"/>
          </a:xfrm>
          <a:prstGeom prst="rect">
            <a:avLst/>
          </a:prstGeom>
          <a:noFill/>
          <a:ln/>
          <a:effectLst>
            <a:outerShdw sx="100000" sy="100000" kx="0" ky="0" algn="bl" rotWithShape="0" blurRad="101600" dist="38100" dir="8100000">
              <a:srgbClr val="000000">
                <a:alpha val="50000"/>
              </a:srgbClr>
            </a:outerShdw>
          </a:effectLst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📱 मोबाइल पर दिखे सब कुछ</a:t>
            </a:r>
            <a:endParaRPr lang="en-US" sz="3600" dirty="0"/>
          </a:p>
        </p:txBody>
      </p:sp>
      <p:sp>
        <p:nvSpPr>
          <p:cNvPr id="4" name="Text 1"/>
          <p:cNvSpPr/>
          <p:nvPr/>
        </p:nvSpPr>
        <p:spPr>
          <a:xfrm>
            <a:off x="365760" y="749808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FFC107"/>
                </a:solidFill>
              </a:rPr>
              <a:t>See everything live on your mobile!</a:t>
            </a:r>
            <a:endParaRPr lang="en-US" sz="1500" dirty="0"/>
          </a:p>
        </p:txBody>
      </p:sp>
      <p:pic>
        <p:nvPicPr>
          <p:cNvPr id="5" name="Image 1" descr="/tmp/kn_assets/ill_phone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365760" y="1097280"/>
            <a:ext cx="2560320" cy="365760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347472" y="1078992"/>
            <a:ext cx="2596896" cy="3694176"/>
          </a:xfrm>
          <a:prstGeom prst="rect">
            <a:avLst/>
          </a:prstGeom>
          <a:solidFill>
            <a:srgbClr val="000000">
              <a:alpha val="0"/>
            </a:srgbClr>
          </a:solidFill>
          <a:ln w="25400">
            <a:solidFill>
              <a:srgbClr val="4CAF50"/>
            </a:solidFill>
            <a:prstDash val="solid"/>
          </a:ln>
        </p:spPr>
      </p:sp>
      <p:sp>
        <p:nvSpPr>
          <p:cNvPr id="7" name="Shape 3"/>
          <p:cNvSpPr/>
          <p:nvPr/>
        </p:nvSpPr>
        <p:spPr>
          <a:xfrm>
            <a:off x="3200400" y="1115568"/>
            <a:ext cx="5669280" cy="822960"/>
          </a:xfrm>
          <a:prstGeom prst="rect">
            <a:avLst/>
          </a:prstGeom>
          <a:solidFill>
            <a:srgbClr val="1E1E2E"/>
          </a:solidFill>
          <a:ln w="25400">
            <a:solidFill>
              <a:srgbClr val="E6510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8" name="Shape 4"/>
          <p:cNvSpPr/>
          <p:nvPr/>
        </p:nvSpPr>
        <p:spPr>
          <a:xfrm>
            <a:off x="3200400" y="1115568"/>
            <a:ext cx="109728" cy="82296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3337560" y="1115568"/>
            <a:ext cx="594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🌡️</a:t>
            </a:r>
            <a:endParaRPr lang="en-US" sz="2800" dirty="0"/>
          </a:p>
        </p:txBody>
      </p:sp>
      <p:sp>
        <p:nvSpPr>
          <p:cNvPr id="10" name="Text 6"/>
          <p:cNvSpPr/>
          <p:nvPr/>
        </p:nvSpPr>
        <p:spPr>
          <a:xfrm>
            <a:off x="3977640" y="1188720"/>
            <a:ext cx="4754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तापमान बहुत ज्यादा!</a:t>
            </a:r>
            <a:endParaRPr lang="en-US" sz="1700" dirty="0"/>
          </a:p>
        </p:txBody>
      </p:sp>
      <p:sp>
        <p:nvSpPr>
          <p:cNvPr id="11" name="Text 7"/>
          <p:cNvSpPr/>
          <p:nvPr/>
        </p:nvSpPr>
        <p:spPr>
          <a:xfrm>
            <a:off x="3977640" y="1554480"/>
            <a:ext cx="4754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AACBF"/>
                </a:solidFill>
              </a:rPr>
              <a:t>Temperature: 38°C — Water Now!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3200400" y="2093976"/>
            <a:ext cx="5669280" cy="822960"/>
          </a:xfrm>
          <a:prstGeom prst="rect">
            <a:avLst/>
          </a:prstGeom>
          <a:solidFill>
            <a:srgbClr val="1E1E2E"/>
          </a:solidFill>
          <a:ln w="25400">
            <a:solidFill>
              <a:srgbClr val="B71C1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3200400" y="2093976"/>
            <a:ext cx="109728" cy="822960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3337560" y="2093976"/>
            <a:ext cx="594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🐆</a:t>
            </a:r>
            <a:endParaRPr lang="en-US" sz="2800" dirty="0"/>
          </a:p>
        </p:txBody>
      </p:sp>
      <p:sp>
        <p:nvSpPr>
          <p:cNvPr id="15" name="Text 11"/>
          <p:cNvSpPr/>
          <p:nvPr/>
        </p:nvSpPr>
        <p:spPr>
          <a:xfrm>
            <a:off x="3977640" y="2167128"/>
            <a:ext cx="4754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जानवर आया खेत में!</a:t>
            </a:r>
            <a:endParaRPr lang="en-US" sz="1700" dirty="0"/>
          </a:p>
        </p:txBody>
      </p:sp>
      <p:sp>
        <p:nvSpPr>
          <p:cNvPr id="16" name="Text 12"/>
          <p:cNvSpPr/>
          <p:nvPr/>
        </p:nvSpPr>
        <p:spPr>
          <a:xfrm>
            <a:off x="3977640" y="2532888"/>
            <a:ext cx="4754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AACBF"/>
                </a:solidFill>
              </a:rPr>
              <a:t>Animal detected — Alarm ON!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3200400" y="3072384"/>
            <a:ext cx="5669280" cy="822960"/>
          </a:xfrm>
          <a:prstGeom prst="rect">
            <a:avLst/>
          </a:prstGeom>
          <a:solidFill>
            <a:srgbClr val="1E1E2E"/>
          </a:solidFill>
          <a:ln w="25400">
            <a:solidFill>
              <a:srgbClr val="1565C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3200400" y="3072384"/>
            <a:ext cx="109728" cy="82296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3337560" y="3072384"/>
            <a:ext cx="594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💧</a:t>
            </a:r>
            <a:endParaRPr lang="en-US" sz="2800" dirty="0"/>
          </a:p>
        </p:txBody>
      </p:sp>
      <p:sp>
        <p:nvSpPr>
          <p:cNvPr id="20" name="Text 16"/>
          <p:cNvSpPr/>
          <p:nvPr/>
        </p:nvSpPr>
        <p:spPr>
          <a:xfrm>
            <a:off x="3977640" y="3145536"/>
            <a:ext cx="4754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फसल को पानी चाहिए</a:t>
            </a:r>
            <a:endParaRPr lang="en-US" sz="1700" dirty="0"/>
          </a:p>
        </p:txBody>
      </p:sp>
      <p:sp>
        <p:nvSpPr>
          <p:cNvPr id="21" name="Text 17"/>
          <p:cNvSpPr/>
          <p:nvPr/>
        </p:nvSpPr>
        <p:spPr>
          <a:xfrm>
            <a:off x="3977640" y="3511296"/>
            <a:ext cx="4754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AACBF"/>
                </a:solidFill>
              </a:rPr>
              <a:t>Moisture: 15% — Auto watering…</a:t>
            </a:r>
            <a:endParaRPr lang="en-US" sz="1200" dirty="0"/>
          </a:p>
        </p:txBody>
      </p:sp>
      <p:sp>
        <p:nvSpPr>
          <p:cNvPr id="22" name="Shape 18"/>
          <p:cNvSpPr/>
          <p:nvPr/>
        </p:nvSpPr>
        <p:spPr>
          <a:xfrm>
            <a:off x="3200400" y="4050792"/>
            <a:ext cx="5669280" cy="822960"/>
          </a:xfrm>
          <a:prstGeom prst="rect">
            <a:avLst/>
          </a:prstGeom>
          <a:solidFill>
            <a:srgbClr val="1E1E2E"/>
          </a:solidFill>
          <a:ln w="25400">
            <a:solidFill>
              <a:srgbClr val="2E7D32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3200400" y="4050792"/>
            <a:ext cx="109728" cy="82296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3337560" y="4050792"/>
            <a:ext cx="594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🔋</a:t>
            </a:r>
            <a:endParaRPr lang="en-US" sz="2800" dirty="0"/>
          </a:p>
        </p:txBody>
      </p:sp>
      <p:sp>
        <p:nvSpPr>
          <p:cNvPr id="25" name="Text 21"/>
          <p:cNvSpPr/>
          <p:nvPr/>
        </p:nvSpPr>
        <p:spPr>
          <a:xfrm>
            <a:off x="3977640" y="4123944"/>
            <a:ext cx="4754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Battery कम है — 18%</a:t>
            </a:r>
            <a:endParaRPr lang="en-US" sz="1700" dirty="0"/>
          </a:p>
        </p:txBody>
      </p:sp>
      <p:sp>
        <p:nvSpPr>
          <p:cNvPr id="26" name="Text 22"/>
          <p:cNvSpPr/>
          <p:nvPr/>
        </p:nvSpPr>
        <p:spPr>
          <a:xfrm>
            <a:off x="3977640" y="4489704"/>
            <a:ext cx="4754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AACBF"/>
                </a:solidFill>
              </a:rPr>
              <a:t>Charge soon — solar check needed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kn_assets/bg_battery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-457200" y="-274320"/>
            <a:ext cx="2286000" cy="1645920"/>
          </a:xfrm>
          <a:prstGeom prst="ellipse">
            <a:avLst/>
          </a:prstGeom>
          <a:solidFill>
            <a:srgbClr val="4CAF50">
              <a:alpha val="12000"/>
            </a:srgbClr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365760" y="164592"/>
            <a:ext cx="8412480" cy="594360"/>
          </a:xfrm>
          <a:prstGeom prst="rect">
            <a:avLst/>
          </a:prstGeom>
          <a:noFill/>
          <a:ln/>
          <a:effectLst>
            <a:outerShdw sx="100000" sy="100000" kx="0" ky="0" algn="bl" rotWithShape="0" blurRad="101600" dist="38100" dir="8100000">
              <a:srgbClr val="000000">
                <a:alpha val="50000"/>
              </a:srgbClr>
            </a:outerShdw>
          </a:effectLst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C1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🔋 Battery Level भी दिखती है!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365760" y="77724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New Feature  •  हमेशा पता रहे battery कितनी बची है</a:t>
            </a:r>
            <a:endParaRPr lang="en-US" sz="1500" dirty="0"/>
          </a:p>
        </p:txBody>
      </p:sp>
      <p:pic>
        <p:nvPicPr>
          <p:cNvPr id="6" name="Image 1" descr="/tmp/kn_assets/ill_bat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760720" y="1097280"/>
            <a:ext cx="3108960" cy="256032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48640" y="1325880"/>
            <a:ext cx="4754880" cy="1371600"/>
          </a:xfrm>
          <a:prstGeom prst="rect">
            <a:avLst/>
          </a:prstGeom>
          <a:solidFill>
            <a:srgbClr val="252545"/>
          </a:solidFill>
          <a:ln w="38100">
            <a:solidFill>
              <a:srgbClr val="FFC107"/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5303520" y="1664208"/>
            <a:ext cx="274320" cy="694944"/>
          </a:xfrm>
          <a:prstGeom prst="rect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612648" y="1389888"/>
            <a:ext cx="3328416" cy="1243584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548640" y="1325880"/>
            <a:ext cx="4754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</a:rPr>
              <a:t>73%</a:t>
            </a:r>
            <a:endParaRPr lang="en-US" sz="5200" dirty="0"/>
          </a:p>
        </p:txBody>
      </p:sp>
      <p:sp>
        <p:nvSpPr>
          <p:cNvPr id="11" name="Text 7"/>
          <p:cNvSpPr/>
          <p:nvPr/>
        </p:nvSpPr>
        <p:spPr>
          <a:xfrm>
            <a:off x="548640" y="274320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C107"/>
                </a:solidFill>
              </a:rPr>
              <a:t>अभी की battery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548640" y="3154680"/>
            <a:ext cx="4754880" cy="475488"/>
          </a:xfrm>
          <a:prstGeom prst="rect">
            <a:avLst/>
          </a:prstGeom>
          <a:solidFill>
            <a:srgbClr val="1E2A44"/>
          </a:solidFill>
          <a:ln w="12700">
            <a:solidFill>
              <a:srgbClr val="3A4A64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685800" y="3154680"/>
            <a:ext cx="44805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 हर 30 सेकंड में battery update होती है</a:t>
            </a:r>
            <a:endParaRPr lang="en-US" sz="1500" dirty="0"/>
          </a:p>
        </p:txBody>
      </p:sp>
      <p:sp>
        <p:nvSpPr>
          <p:cNvPr id="14" name="Shape 10"/>
          <p:cNvSpPr/>
          <p:nvPr/>
        </p:nvSpPr>
        <p:spPr>
          <a:xfrm>
            <a:off x="548640" y="3749040"/>
            <a:ext cx="4754880" cy="475488"/>
          </a:xfrm>
          <a:prstGeom prst="rect">
            <a:avLst/>
          </a:prstGeom>
          <a:solidFill>
            <a:srgbClr val="1E2A44"/>
          </a:solidFill>
          <a:ln w="12700">
            <a:solidFill>
              <a:srgbClr val="3A4A64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685800" y="3749040"/>
            <a:ext cx="44805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 Battery 20% से कम → मोबाइल alert आएगा</a:t>
            </a:r>
            <a:endParaRPr lang="en-US" sz="1500" dirty="0"/>
          </a:p>
        </p:txBody>
      </p:sp>
      <p:sp>
        <p:nvSpPr>
          <p:cNvPr id="16" name="Shape 12"/>
          <p:cNvSpPr/>
          <p:nvPr/>
        </p:nvSpPr>
        <p:spPr>
          <a:xfrm>
            <a:off x="548640" y="4343400"/>
            <a:ext cx="4754880" cy="475488"/>
          </a:xfrm>
          <a:prstGeom prst="rect">
            <a:avLst/>
          </a:prstGeom>
          <a:solidFill>
            <a:srgbClr val="1E2A44"/>
          </a:solidFill>
          <a:ln w="12700">
            <a:solidFill>
              <a:srgbClr val="3A4A64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685800" y="4343400"/>
            <a:ext cx="44805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☀️  Solar charging + 72 घंटे backup बैटरी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kn_assets/bg_market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365760" y="137160"/>
            <a:ext cx="8412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🇮🇳 भारत का बाज़ार — India Market</a:t>
            </a:r>
            <a:endParaRPr lang="en-US" sz="2800" dirty="0"/>
          </a:p>
        </p:txBody>
      </p:sp>
      <p:pic>
        <p:nvPicPr>
          <p:cNvPr id="5" name="Image 1" descr="/tmp/kn_assets/ill_india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486400" y="1005840"/>
            <a:ext cx="3291840" cy="384048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365760" y="1115568"/>
            <a:ext cx="484632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E8F5E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3"/>
          <p:cNvSpPr/>
          <p:nvPr/>
        </p:nvSpPr>
        <p:spPr>
          <a:xfrm>
            <a:off x="365760" y="1115568"/>
            <a:ext cx="128016" cy="1078992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621792" y="1188720"/>
            <a:ext cx="4480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5E2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14.6 करोड़</a:t>
            </a:r>
            <a:endParaRPr lang="en-US" sz="3000" dirty="0"/>
          </a:p>
        </p:txBody>
      </p:sp>
      <p:sp>
        <p:nvSpPr>
          <p:cNvPr id="9" name="Text 5"/>
          <p:cNvSpPr/>
          <p:nvPr/>
        </p:nvSpPr>
        <p:spPr>
          <a:xfrm>
            <a:off x="621792" y="1682496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</a:rPr>
              <a:t>किसान परिवार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621792" y="1938528"/>
            <a:ext cx="4480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57575"/>
                </a:solidFill>
              </a:rPr>
              <a:t>146 Million farmer families in India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365760" y="2377440"/>
            <a:ext cx="484632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E8F5E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365760" y="2377440"/>
            <a:ext cx="128016" cy="1078992"/>
          </a:xfrm>
          <a:prstGeom prst="rect">
            <a:avLst/>
          </a:prstGeom>
          <a:solidFill>
            <a:srgbClr val="FF8F00"/>
          </a:solidFill>
          <a:ln w="12700">
            <a:solidFill>
              <a:srgbClr val="FF8F00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621792" y="2450592"/>
            <a:ext cx="4480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8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₹15,000</a:t>
            </a:r>
            <a:endParaRPr lang="en-US" sz="3000" dirty="0"/>
          </a:p>
        </p:txBody>
      </p:sp>
      <p:sp>
        <p:nvSpPr>
          <p:cNvPr id="14" name="Text 10"/>
          <p:cNvSpPr/>
          <p:nvPr/>
        </p:nvSpPr>
        <p:spPr>
          <a:xfrm>
            <a:off x="621792" y="2944368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</a:rPr>
              <a:t>प्रति डिवाइस लागत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621792" y="3200400"/>
            <a:ext cx="4480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57575"/>
                </a:solidFill>
              </a:rPr>
              <a:t>One-time device cost per farmer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365760" y="3639312"/>
            <a:ext cx="484632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E8F5E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365760" y="3639312"/>
            <a:ext cx="128016" cy="1078992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621792" y="3712464"/>
            <a:ext cx="4480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651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₹2200 Cr+</a:t>
            </a:r>
            <a:endParaRPr lang="en-US" sz="3000" dirty="0"/>
          </a:p>
        </p:txBody>
      </p:sp>
      <p:sp>
        <p:nvSpPr>
          <p:cNvPr id="19" name="Text 15"/>
          <p:cNvSpPr/>
          <p:nvPr/>
        </p:nvSpPr>
        <p:spPr>
          <a:xfrm>
            <a:off x="621792" y="4206240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</a:rPr>
              <a:t>बाज़ार का आकार</a:t>
            </a:r>
            <a:endParaRPr lang="en-US" sz="1500" dirty="0"/>
          </a:p>
        </p:txBody>
      </p:sp>
      <p:sp>
        <p:nvSpPr>
          <p:cNvPr id="20" name="Text 16"/>
          <p:cNvSpPr/>
          <p:nvPr/>
        </p:nvSpPr>
        <p:spPr>
          <a:xfrm>
            <a:off x="621792" y="4462272"/>
            <a:ext cx="4480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57575"/>
                </a:solidFill>
              </a:rPr>
              <a:t>Total addressable Indian market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kn_assets/bg_pricing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365760" y="73152"/>
            <a:ext cx="8412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C1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💰 कितना पैसा लगेगा?</a:t>
            </a:r>
            <a:endParaRPr lang="en-US" sz="3400" dirty="0"/>
          </a:p>
        </p:txBody>
      </p:sp>
      <p:sp>
        <p:nvSpPr>
          <p:cNvPr id="5" name="Text 2"/>
          <p:cNvSpPr/>
          <p:nvPr/>
        </p:nvSpPr>
        <p:spPr>
          <a:xfrm>
            <a:off x="365760" y="603504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888888"/>
                </a:solidFill>
              </a:rPr>
              <a:t>Simple, Affordable Pricing for Every Farmer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347472" y="987552"/>
            <a:ext cx="2706624" cy="3913632"/>
          </a:xfrm>
          <a:prstGeom prst="rect">
            <a:avLst/>
          </a:prstGeom>
          <a:solidFill>
            <a:srgbClr val="111111"/>
          </a:solidFill>
          <a:ln w="12700">
            <a:solidFill>
              <a:srgbClr val="1565C0"/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35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347472" y="987552"/>
            <a:ext cx="2706624" cy="146304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38912" y="1207008"/>
            <a:ext cx="252374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शुरुआती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438912" y="1618488"/>
            <a:ext cx="25237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88888"/>
                </a:solidFill>
              </a:rPr>
              <a:t>Starter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713232" y="1901952"/>
            <a:ext cx="1975104" cy="2743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38912" y="1975104"/>
            <a:ext cx="252374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₹999</a:t>
            </a:r>
            <a:endParaRPr lang="en-US" sz="3000" dirty="0"/>
          </a:p>
        </p:txBody>
      </p:sp>
      <p:sp>
        <p:nvSpPr>
          <p:cNvPr id="12" name="Text 9"/>
          <p:cNvSpPr/>
          <p:nvPr/>
        </p:nvSpPr>
        <p:spPr>
          <a:xfrm>
            <a:off x="438912" y="2542032"/>
            <a:ext cx="25237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88888"/>
                </a:solidFill>
              </a:rPr>
              <a:t>/माह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530352" y="2871216"/>
            <a:ext cx="234086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C1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1 डिवाइस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530352" y="3264408"/>
            <a:ext cx="234086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Mobile Alerts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530352" y="3657600"/>
            <a:ext cx="234086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AI Water Control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530352" y="4050792"/>
            <a:ext cx="234086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Live Camera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3200400" y="987552"/>
            <a:ext cx="2706624" cy="3913632"/>
          </a:xfrm>
          <a:prstGeom prst="rect">
            <a:avLst/>
          </a:prstGeom>
          <a:solidFill>
            <a:srgbClr val="111111"/>
          </a:solidFill>
          <a:ln w="38100">
            <a:solidFill>
              <a:srgbClr val="FF8F00"/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35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3200400" y="987552"/>
            <a:ext cx="2706624" cy="146304"/>
          </a:xfrm>
          <a:prstGeom prst="rect">
            <a:avLst/>
          </a:prstGeom>
          <a:solidFill>
            <a:srgbClr val="FF8F00"/>
          </a:solidFill>
          <a:ln w="12700">
            <a:solidFill>
              <a:srgbClr val="FF8F00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3657600" y="987552"/>
            <a:ext cx="1792224" cy="329184"/>
          </a:xfrm>
          <a:prstGeom prst="rect">
            <a:avLst/>
          </a:prstGeom>
          <a:solidFill>
            <a:srgbClr val="FF8F00"/>
          </a:solidFill>
          <a:ln w="12700">
            <a:solidFill>
              <a:srgbClr val="FF8F0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3657600" y="987552"/>
            <a:ext cx="17922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</a:rPr>
              <a:t>★ BEST VALUE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3291840" y="1207008"/>
            <a:ext cx="252374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C1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🌟 सबसे अच्छा</a:t>
            </a:r>
            <a:endParaRPr lang="en-US" sz="1800" dirty="0"/>
          </a:p>
        </p:txBody>
      </p:sp>
      <p:sp>
        <p:nvSpPr>
          <p:cNvPr id="22" name="Text 19"/>
          <p:cNvSpPr/>
          <p:nvPr/>
        </p:nvSpPr>
        <p:spPr>
          <a:xfrm>
            <a:off x="3291840" y="1618488"/>
            <a:ext cx="25237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88888"/>
                </a:solidFill>
              </a:rPr>
              <a:t>Most Popular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3566160" y="1901952"/>
            <a:ext cx="1975104" cy="27432"/>
          </a:xfrm>
          <a:prstGeom prst="rect">
            <a:avLst/>
          </a:prstGeom>
          <a:solidFill>
            <a:srgbClr val="FF8F00"/>
          </a:solidFill>
          <a:ln w="12700">
            <a:solidFill>
              <a:srgbClr val="FF8F00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3291840" y="1975104"/>
            <a:ext cx="252374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₹1,499</a:t>
            </a:r>
            <a:endParaRPr lang="en-US" sz="3000" dirty="0"/>
          </a:p>
        </p:txBody>
      </p:sp>
      <p:sp>
        <p:nvSpPr>
          <p:cNvPr id="25" name="Text 22"/>
          <p:cNvSpPr/>
          <p:nvPr/>
        </p:nvSpPr>
        <p:spPr>
          <a:xfrm>
            <a:off x="3291840" y="2542032"/>
            <a:ext cx="25237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88888"/>
                </a:solidFill>
              </a:rPr>
              <a:t>/माह</a:t>
            </a:r>
            <a:endParaRPr lang="en-US" sz="1400" dirty="0"/>
          </a:p>
        </p:txBody>
      </p:sp>
      <p:sp>
        <p:nvSpPr>
          <p:cNvPr id="26" name="Text 23"/>
          <p:cNvSpPr/>
          <p:nvPr/>
        </p:nvSpPr>
        <p:spPr>
          <a:xfrm>
            <a:off x="3383280" y="2871216"/>
            <a:ext cx="234086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C1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3 डिवाइस</a:t>
            </a:r>
            <a:endParaRPr lang="en-US" sz="1300" dirty="0"/>
          </a:p>
        </p:txBody>
      </p:sp>
      <p:sp>
        <p:nvSpPr>
          <p:cNvPr id="27" name="Text 24"/>
          <p:cNvSpPr/>
          <p:nvPr/>
        </p:nvSpPr>
        <p:spPr>
          <a:xfrm>
            <a:off x="3383280" y="3264408"/>
            <a:ext cx="234086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Fields Map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3383280" y="3657600"/>
            <a:ext cx="234086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Solar Support</a:t>
            </a:r>
            <a:endParaRPr lang="en-US" sz="1300" dirty="0"/>
          </a:p>
        </p:txBody>
      </p:sp>
      <p:sp>
        <p:nvSpPr>
          <p:cNvPr id="29" name="Text 26"/>
          <p:cNvSpPr/>
          <p:nvPr/>
        </p:nvSpPr>
        <p:spPr>
          <a:xfrm>
            <a:off x="3383280" y="4050792"/>
            <a:ext cx="234086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Battery Monitor</a:t>
            </a:r>
            <a:endParaRPr lang="en-US" sz="1300" dirty="0"/>
          </a:p>
        </p:txBody>
      </p:sp>
      <p:sp>
        <p:nvSpPr>
          <p:cNvPr id="30" name="Text 27"/>
          <p:cNvSpPr/>
          <p:nvPr/>
        </p:nvSpPr>
        <p:spPr>
          <a:xfrm>
            <a:off x="3383280" y="4443984"/>
            <a:ext cx="234086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Priority Help</a:t>
            </a:r>
            <a:endParaRPr lang="en-US" sz="1300" dirty="0"/>
          </a:p>
        </p:txBody>
      </p:sp>
      <p:sp>
        <p:nvSpPr>
          <p:cNvPr id="31" name="Shape 28"/>
          <p:cNvSpPr/>
          <p:nvPr/>
        </p:nvSpPr>
        <p:spPr>
          <a:xfrm>
            <a:off x="6053328" y="987552"/>
            <a:ext cx="2706624" cy="3913632"/>
          </a:xfrm>
          <a:prstGeom prst="rect">
            <a:avLst/>
          </a:prstGeom>
          <a:solidFill>
            <a:srgbClr val="111111"/>
          </a:solidFill>
          <a:ln w="12700">
            <a:solidFill>
              <a:srgbClr val="2E7D32"/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35000"/>
              </a:srgbClr>
            </a:outerShdw>
          </a:effectLst>
        </p:spPr>
      </p:sp>
      <p:sp>
        <p:nvSpPr>
          <p:cNvPr id="32" name="Shape 29"/>
          <p:cNvSpPr/>
          <p:nvPr/>
        </p:nvSpPr>
        <p:spPr>
          <a:xfrm>
            <a:off x="6053328" y="987552"/>
            <a:ext cx="2706624" cy="146304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6144768" y="1207008"/>
            <a:ext cx="252374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बड़े किसान</a:t>
            </a:r>
            <a:endParaRPr lang="en-US" sz="1800" dirty="0"/>
          </a:p>
        </p:txBody>
      </p:sp>
      <p:sp>
        <p:nvSpPr>
          <p:cNvPr id="34" name="Text 31"/>
          <p:cNvSpPr/>
          <p:nvPr/>
        </p:nvSpPr>
        <p:spPr>
          <a:xfrm>
            <a:off x="6144768" y="1618488"/>
            <a:ext cx="25237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88888"/>
                </a:solidFill>
              </a:rPr>
              <a:t>Commercial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6419088" y="1901952"/>
            <a:ext cx="1975104" cy="2743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6144768" y="1975104"/>
            <a:ext cx="252374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₹2,999</a:t>
            </a:r>
            <a:endParaRPr lang="en-US" sz="3000" dirty="0"/>
          </a:p>
        </p:txBody>
      </p:sp>
      <p:sp>
        <p:nvSpPr>
          <p:cNvPr id="37" name="Text 34"/>
          <p:cNvSpPr/>
          <p:nvPr/>
        </p:nvSpPr>
        <p:spPr>
          <a:xfrm>
            <a:off x="6144768" y="2542032"/>
            <a:ext cx="25237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88888"/>
                </a:solidFill>
              </a:rPr>
              <a:t>/माह</a:t>
            </a:r>
            <a:endParaRPr lang="en-US" sz="1400" dirty="0"/>
          </a:p>
        </p:txBody>
      </p:sp>
      <p:sp>
        <p:nvSpPr>
          <p:cNvPr id="38" name="Text 35"/>
          <p:cNvSpPr/>
          <p:nvPr/>
        </p:nvSpPr>
        <p:spPr>
          <a:xfrm>
            <a:off x="6236208" y="2871216"/>
            <a:ext cx="234086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C1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10 डिवाइस</a:t>
            </a:r>
            <a:endParaRPr lang="en-US" sz="1300" dirty="0"/>
          </a:p>
        </p:txBody>
      </p:sp>
      <p:sp>
        <p:nvSpPr>
          <p:cNvPr id="39" name="Text 36"/>
          <p:cNvSpPr/>
          <p:nvPr/>
        </p:nvSpPr>
        <p:spPr>
          <a:xfrm>
            <a:off x="6236208" y="3264408"/>
            <a:ext cx="234086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सब Features</a:t>
            </a:r>
            <a:endParaRPr lang="en-US" sz="1300" dirty="0"/>
          </a:p>
        </p:txBody>
      </p:sp>
      <p:sp>
        <p:nvSpPr>
          <p:cNvPr id="40" name="Text 37"/>
          <p:cNvSpPr/>
          <p:nvPr/>
        </p:nvSpPr>
        <p:spPr>
          <a:xfrm>
            <a:off x="6236208" y="3657600"/>
            <a:ext cx="234086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Custom Alerts</a:t>
            </a:r>
            <a:endParaRPr lang="en-US" sz="1300" dirty="0"/>
          </a:p>
        </p:txBody>
      </p:sp>
      <p:sp>
        <p:nvSpPr>
          <p:cNvPr id="41" name="Text 38"/>
          <p:cNvSpPr/>
          <p:nvPr/>
        </p:nvSpPr>
        <p:spPr>
          <a:xfrm>
            <a:off x="6236208" y="4050792"/>
            <a:ext cx="234086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Data Export</a:t>
            </a:r>
            <a:endParaRPr lang="en-US" sz="1300" dirty="0"/>
          </a:p>
        </p:txBody>
      </p:sp>
      <p:sp>
        <p:nvSpPr>
          <p:cNvPr id="42" name="Text 39"/>
          <p:cNvSpPr/>
          <p:nvPr/>
        </p:nvSpPr>
        <p:spPr>
          <a:xfrm>
            <a:off x="6236208" y="4443984"/>
            <a:ext cx="234086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Dedicated Team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kn_assets/bg_cta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>
              <a:alpha val="62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0" y="4690872"/>
            <a:ext cx="9144000" cy="452628"/>
          </a:xfrm>
          <a:prstGeom prst="rect">
            <a:avLst/>
          </a:prstGeom>
          <a:solidFill>
            <a:srgbClr val="FF8F00"/>
          </a:solidFill>
          <a:ln w="12700">
            <a:solidFill>
              <a:srgbClr val="FF8F0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57200" y="566928"/>
            <a:ext cx="8229600" cy="960120"/>
          </a:xfrm>
          <a:prstGeom prst="rect">
            <a:avLst/>
          </a:prstGeom>
          <a:noFill/>
          <a:ln/>
          <a:effectLst>
            <a:outerShdw sx="100000" sy="100000" kx="0" ky="0" algn="bl" rotWithShape="0" blurRad="177800" dist="50800" dir="8100000">
              <a:srgbClr val="000000">
                <a:alpha val="70000"/>
              </a:srgbClr>
            </a:outerShdw>
          </a:effectLst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अभी जुड़ें!</a:t>
            </a:r>
            <a:endParaRPr lang="en-US" sz="6800" dirty="0"/>
          </a:p>
        </p:txBody>
      </p:sp>
      <p:sp>
        <p:nvSpPr>
          <p:cNvPr id="7" name="Text 4"/>
          <p:cNvSpPr/>
          <p:nvPr/>
        </p:nvSpPr>
        <p:spPr>
          <a:xfrm>
            <a:off x="457200" y="1536192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C107"/>
                </a:solidFill>
              </a:rPr>
              <a:t>Join KrishiNetra Today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457200" y="2029968"/>
            <a:ext cx="8229600" cy="438912"/>
          </a:xfrm>
          <a:prstGeom prst="rect">
            <a:avLst/>
          </a:prstGeom>
          <a:noFill/>
          <a:ln/>
          <a:effectLst>
            <a:outerShdw sx="100000" sy="100000" kx="0" ky="0" algn="bl" rotWithShape="0" blurRad="76200" dist="25400" dir="8100000">
              <a:srgbClr val="000000">
                <a:alpha val="50000"/>
              </a:srgbClr>
            </a:outerShdw>
          </a:effectLst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आपकी फसल — हमारी ज़िम्मेदारी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457200" y="248716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99DDAA"/>
                </a:solidFill>
              </a:rPr>
              <a:t>"Your crop is our responsibility"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731520" y="2999232"/>
            <a:ext cx="2514600" cy="1097280"/>
          </a:xfrm>
          <a:prstGeom prst="rect">
            <a:avLst/>
          </a:prstGeom>
          <a:solidFill>
            <a:srgbClr val="000000">
              <a:alpha val="60000"/>
            </a:srgbClr>
          </a:solidFill>
          <a:ln w="12700">
            <a:solidFill>
              <a:srgbClr val="FFC107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31520" y="2999232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📧</a:t>
            </a:r>
            <a:endParaRPr lang="en-US" sz="3000" dirty="0"/>
          </a:p>
        </p:txBody>
      </p:sp>
      <p:sp>
        <p:nvSpPr>
          <p:cNvPr id="12" name="Text 9"/>
          <p:cNvSpPr/>
          <p:nvPr/>
        </p:nvSpPr>
        <p:spPr>
          <a:xfrm>
            <a:off x="822960" y="3566160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C107"/>
                </a:solidFill>
              </a:rPr>
              <a:t>Email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822960" y="3822192"/>
            <a:ext cx="2331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hello@krishinetra.in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3429000" y="2999232"/>
            <a:ext cx="2514600" cy="1097280"/>
          </a:xfrm>
          <a:prstGeom prst="rect">
            <a:avLst/>
          </a:prstGeom>
          <a:solidFill>
            <a:srgbClr val="000000">
              <a:alpha val="60000"/>
            </a:srgbClr>
          </a:solidFill>
          <a:ln w="12700">
            <a:solidFill>
              <a:srgbClr val="FFC107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29000" y="2999232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📞</a:t>
            </a:r>
            <a:endParaRPr lang="en-US" sz="3000" dirty="0"/>
          </a:p>
        </p:txBody>
      </p:sp>
      <p:sp>
        <p:nvSpPr>
          <p:cNvPr id="16" name="Text 13"/>
          <p:cNvSpPr/>
          <p:nvPr/>
        </p:nvSpPr>
        <p:spPr>
          <a:xfrm>
            <a:off x="3520440" y="3566160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C107"/>
                </a:solidFill>
              </a:rPr>
              <a:t>Call / WhatsApp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3520440" y="3822192"/>
            <a:ext cx="2331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+91 98XXX XXXXX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6126480" y="2999232"/>
            <a:ext cx="2514600" cy="1097280"/>
          </a:xfrm>
          <a:prstGeom prst="rect">
            <a:avLst/>
          </a:prstGeom>
          <a:solidFill>
            <a:srgbClr val="000000">
              <a:alpha val="60000"/>
            </a:srgbClr>
          </a:solidFill>
          <a:ln w="12700">
            <a:solidFill>
              <a:srgbClr val="FFC107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126480" y="2999232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🌐</a:t>
            </a:r>
            <a:endParaRPr lang="en-US" sz="3000" dirty="0"/>
          </a:p>
        </p:txBody>
      </p:sp>
      <p:sp>
        <p:nvSpPr>
          <p:cNvPr id="20" name="Text 17"/>
          <p:cNvSpPr/>
          <p:nvPr/>
        </p:nvSpPr>
        <p:spPr>
          <a:xfrm>
            <a:off x="6217920" y="3566160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C107"/>
                </a:solidFill>
              </a:rPr>
              <a:t>Website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6217920" y="3822192"/>
            <a:ext cx="2331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www.krishinetra.in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0" y="4690872"/>
            <a:ext cx="9144000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1A"/>
                </a:solidFill>
              </a:rPr>
              <a:t>कृषि नेत्र  •  KrishiNetra  •  Made in India 🇮🇳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KrishiNetra — कृषि नेत्र</dc:title>
  <dc:subject>PptxGenJS Presentation</dc:subject>
  <dc:creator>PptxGenJS</dc:creator>
  <cp:lastModifiedBy>PptxGenJS</cp:lastModifiedBy>
  <cp:revision>1</cp:revision>
  <dcterms:created xsi:type="dcterms:W3CDTF">2026-03-08T20:41:45Z</dcterms:created>
  <dcterms:modified xsi:type="dcterms:W3CDTF">2026-03-08T20:41:45Z</dcterms:modified>
</cp:coreProperties>
</file>